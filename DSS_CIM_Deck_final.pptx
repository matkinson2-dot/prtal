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Dashmir Dalipi, CEO: founded DSS - IT &amp; Cyber Security Management in 2019. 20+ years in healthcare IT; previously Director of IT / Chief Information Security at ProHEALTH Care.</a:t>
            </a:r>
          </a:p>
          <a:p>
            <a:r>
              <a:rPr lang="en-US" dirty="0"/>
              <a:t>Jose Ra, Director of Operations.</a:t>
            </a:r>
          </a:p>
          <a:p>
            <a:r>
              <a:rPr lang="en-US" dirty="0"/>
              <a:t>Sajid Kakana, Level 3 Systems Administrator.</a:t>
            </a:r>
          </a:p>
          <a:p>
            <a:r>
              <a:rPr lang="en-US" dirty="0"/>
              <a:t>Headshots are initials placeholders: right-click a circle &gt; Change Picture to drop in a photo; the circle crop and size are kept.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0" Type="http://schemas.openxmlformats.org/officeDocument/2006/relationships/image" Target="../media/footprint-bg.png"/><Relationship Id="rId11" Type="http://schemas.openxmlformats.org/officeDocument/2006/relationships/image" Target="../media/footprint-map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0" Type="http://schemas.openxmlformats.org/officeDocument/2006/relationships/image" Target="../media/leader-1.png"/><Relationship Id="rId11" Type="http://schemas.openxmlformats.org/officeDocument/2006/relationships/image" Target="../media/leader-2.png"/><Relationship Id="rId12" Type="http://schemas.openxmlformats.org/officeDocument/2006/relationships/image" Target="../media/leader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 descr="Backgroun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762000" y="682752"/>
            <a:ext cx="5486400" cy="1584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300" b="1" spc="500" dirty="0">
                <a:solidFill>
                  <a:srgbClr val="5AB0EE"/>
                </a:solidFill>
                <a:latin typeface="Arial"/>
                <a:cs typeface="Arial"/>
              </a:rPr>
              <a:t xml:space="preserve">CLIENT FOOTPRINT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2000" y="914400"/>
            <a:ext cx="106680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3200" b="1" spc="-20" dirty="0">
                <a:solidFill>
                  <a:srgbClr val="FFFFFF"/>
                </a:solidFill>
                <a:latin typeface="Arial"/>
                <a:cs typeface="Arial"/>
              </a:rPr>
              <a:t xml:space="preserve">16 clients, 300+ sites — anchored in the Northeast</a:t>
            </a:r>
          </a:p>
        </p:txBody>
      </p:sp>
      <p:pic>
        <p:nvPicPr>
          <p:cNvPr id="5" name="US map" descr="US map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7680" y="1493520"/>
            <a:ext cx="6644640" cy="4151376"/>
          </a:xfrm>
          <a:prstGeom prst="rect">
            <a:avLst/>
          </a:prstGeom>
        </p:spPr>
      </p:pic>
      <p:sp>
        <p:nvSpPr>
          <p:cNvPr id="6" name="Glow"/>
          <p:cNvSpPr/>
          <p:nvPr/>
        </p:nvSpPr>
        <p:spPr>
          <a:xfrm>
            <a:off x="6239359" y="2713851"/>
            <a:ext cx="512064" cy="512064"/>
          </a:xfrm>
          <a:prstGeom prst="ellipse">
            <a:avLst/>
          </a:prstGeom>
          <a:solidFill>
            <a:srgbClr val="3B82D6">
              <a:alpha val="22000"/>
            </a:srgbClr>
          </a:solidFill>
          <a:ln>
            <a:noFill/>
          </a:ln>
        </p:spPr>
      </p:sp>
      <p:sp>
        <p:nvSpPr>
          <p:cNvPr id="7" name="Cluster - NY Metro &amp; Long Island"/>
          <p:cNvSpPr/>
          <p:nvPr/>
        </p:nvSpPr>
        <p:spPr>
          <a:xfrm>
            <a:off x="6342991" y="2817483"/>
            <a:ext cx="304800" cy="304800"/>
          </a:xfrm>
          <a:prstGeom prst="ellipse">
            <a:avLst/>
          </a:prstGeom>
          <a:solidFill>
            <a:srgbClr val="3B82D6"/>
          </a:solidFill>
          <a:ln w="19050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8" name="Glow"/>
          <p:cNvSpPr/>
          <p:nvPr/>
        </p:nvSpPr>
        <p:spPr>
          <a:xfrm>
            <a:off x="4923283" y="3041182"/>
            <a:ext cx="316992" cy="316992"/>
          </a:xfrm>
          <a:prstGeom prst="ellipse">
            <a:avLst/>
          </a:prstGeom>
          <a:solidFill>
            <a:srgbClr val="3B82D6">
              <a:alpha val="22000"/>
            </a:srgbClr>
          </a:solidFill>
          <a:ln>
            <a:noFill/>
          </a:ln>
        </p:spPr>
      </p:sp>
      <p:sp>
        <p:nvSpPr>
          <p:cNvPr id="9" name="Client - Midwest Eye Consultants / Bridgeview Eye"/>
          <p:cNvSpPr/>
          <p:nvPr/>
        </p:nvSpPr>
        <p:spPr>
          <a:xfrm>
            <a:off x="4996435" y="3114334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Glow"/>
          <p:cNvSpPr/>
          <p:nvPr/>
        </p:nvSpPr>
        <p:spPr>
          <a:xfrm>
            <a:off x="5036657" y="2736504"/>
            <a:ext cx="316992" cy="316992"/>
          </a:xfrm>
          <a:prstGeom prst="ellipse">
            <a:avLst/>
          </a:prstGeom>
          <a:solidFill>
            <a:srgbClr val="3B82D6">
              <a:alpha val="22000"/>
            </a:srgbClr>
          </a:solidFill>
          <a:ln>
            <a:noFill/>
          </a:ln>
        </p:spPr>
      </p:sp>
      <p:sp>
        <p:nvSpPr>
          <p:cNvPr id="11" name="Client - MMSIC"/>
          <p:cNvSpPr/>
          <p:nvPr/>
        </p:nvSpPr>
        <p:spPr>
          <a:xfrm>
            <a:off x="5109809" y="2809656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Glow"/>
          <p:cNvSpPr/>
          <p:nvPr/>
        </p:nvSpPr>
        <p:spPr>
          <a:xfrm>
            <a:off x="5945246" y="5046509"/>
            <a:ext cx="316992" cy="316992"/>
          </a:xfrm>
          <a:prstGeom prst="ellipse">
            <a:avLst/>
          </a:prstGeom>
          <a:solidFill>
            <a:srgbClr val="3B82D6">
              <a:alpha val="22000"/>
            </a:srgbClr>
          </a:solidFill>
          <a:ln>
            <a:noFill/>
          </a:ln>
        </p:spPr>
      </p:sp>
      <p:sp>
        <p:nvSpPr>
          <p:cNvPr id="13" name="Client - MyServiceReady"/>
          <p:cNvSpPr/>
          <p:nvPr/>
        </p:nvSpPr>
        <p:spPr>
          <a:xfrm>
            <a:off x="6018398" y="5119661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Glow"/>
          <p:cNvSpPr/>
          <p:nvPr/>
        </p:nvSpPr>
        <p:spPr>
          <a:xfrm>
            <a:off x="3931071" y="3905697"/>
            <a:ext cx="316992" cy="316992"/>
          </a:xfrm>
          <a:prstGeom prst="ellipse">
            <a:avLst/>
          </a:prstGeom>
          <a:solidFill>
            <a:srgbClr val="3B82D6">
              <a:alpha val="22000"/>
            </a:srgbClr>
          </a:solidFill>
          <a:ln>
            <a:noFill/>
          </a:ln>
        </p:spPr>
      </p:sp>
      <p:sp>
        <p:nvSpPr>
          <p:cNvPr id="15" name="Client - Roller Weight Loss"/>
          <p:cNvSpPr/>
          <p:nvPr/>
        </p:nvSpPr>
        <p:spPr>
          <a:xfrm>
            <a:off x="4004223" y="3978849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528560" y="161544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050" b="1" spc="120" dirty="0">
                <a:solidFill>
                  <a:srgbClr val="5AB0EE"/>
                </a:solidFill>
                <a:latin typeface="Arial"/>
                <a:cs typeface="Arial"/>
              </a:rPr>
              <a:t xml:space="preserve">NY METRO &amp; LONG ISLAND · 11 CLIENTS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528560" y="1840992"/>
            <a:ext cx="1950720" cy="1402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The Smilist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Health Plus Management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Sanders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Bedgear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Milberg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NY Bariatric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9540240" y="1840992"/>
            <a:ext cx="1950720" cy="1402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Zicana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Cohen Hochman &amp; Allen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ProHEALTH Dental (PHD)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Stephen K. Seung, Esq.</a:t>
            </a:r>
          </a:p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C9D2E0"/>
                </a:solidFill>
                <a:latin typeface="Arial"/>
                <a:cs typeface="Arial"/>
              </a:rPr>
              <a:t xml:space="preserve">Yankowitz Law Firm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528560" y="3413760"/>
            <a:ext cx="3657600" cy="1463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050" b="1" spc="120" dirty="0">
                <a:solidFill>
                  <a:srgbClr val="5AB0EE"/>
                </a:solidFill>
                <a:latin typeface="Arial"/>
                <a:cs typeface="Arial"/>
              </a:rPr>
              <a:t xml:space="preserve">EXPANDING FOOTPRINT</a:t>
            </a:r>
          </a:p>
        </p:txBody>
      </p:sp>
      <p:sp>
        <p:nvSpPr>
          <p:cNvPr id="20" name="Pin"/>
          <p:cNvSpPr/>
          <p:nvPr/>
        </p:nvSpPr>
        <p:spPr>
          <a:xfrm>
            <a:off x="7528560" y="3651504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796784" y="3657600"/>
            <a:ext cx="3718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200" b="1" spc="0" dirty="0">
                <a:solidFill>
                  <a:srgbClr val="FFFFFF"/>
                </a:solidFill>
                <a:latin typeface="Arial"/>
                <a:cs typeface="Arial"/>
              </a:rPr>
              <a:t xml:space="preserve">Midwest Eye Consultants / Bridgeview Eye</a:t>
            </a:r>
          </a:p>
          <a:p>
            <a:pPr algn="l">
              <a:spcAft>
                <a:spcPts val="300"/>
              </a:spcAft>
            </a:pPr>
            <a:r>
              <a:rPr lang="en-US" sz="1000" b="0" spc="0" dirty="0">
                <a:solidFill>
                  <a:srgbClr val="8B97AB"/>
                </a:solidFill>
                <a:latin typeface="Arial"/>
                <a:cs typeface="Arial"/>
              </a:rPr>
              <a:t xml:space="preserve">Wabash, IN</a:t>
            </a:r>
          </a:p>
        </p:txBody>
      </p:sp>
      <p:sp>
        <p:nvSpPr>
          <p:cNvPr id="22" name="Pin"/>
          <p:cNvSpPr/>
          <p:nvPr/>
        </p:nvSpPr>
        <p:spPr>
          <a:xfrm>
            <a:off x="7528560" y="4053840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796784" y="4059936"/>
            <a:ext cx="3718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200" b="1" spc="0" dirty="0">
                <a:solidFill>
                  <a:srgbClr val="FFFFFF"/>
                </a:solidFill>
                <a:latin typeface="Arial"/>
                <a:cs typeface="Arial"/>
              </a:rPr>
              <a:t xml:space="preserve">MMSIC</a:t>
            </a:r>
          </a:p>
          <a:p>
            <a:pPr algn="l">
              <a:spcAft>
                <a:spcPts val="300"/>
              </a:spcAft>
            </a:pPr>
            <a:r>
              <a:rPr lang="en-US" sz="1000" b="0" spc="0" dirty="0">
                <a:solidFill>
                  <a:srgbClr val="8B97AB"/>
                </a:solidFill>
                <a:latin typeface="Arial"/>
                <a:cs typeface="Arial"/>
              </a:rPr>
              <a:t xml:space="preserve">Lansing, MI</a:t>
            </a:r>
          </a:p>
        </p:txBody>
      </p:sp>
      <p:sp>
        <p:nvSpPr>
          <p:cNvPr id="24" name="Pin"/>
          <p:cNvSpPr/>
          <p:nvPr/>
        </p:nvSpPr>
        <p:spPr>
          <a:xfrm>
            <a:off x="7528560" y="4456176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796784" y="4462272"/>
            <a:ext cx="3718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200" b="1" spc="0" dirty="0">
                <a:solidFill>
                  <a:srgbClr val="FFFFFF"/>
                </a:solidFill>
                <a:latin typeface="Arial"/>
                <a:cs typeface="Arial"/>
              </a:rPr>
              <a:t xml:space="preserve">MyServiceReady</a:t>
            </a:r>
          </a:p>
          <a:p>
            <a:pPr algn="l">
              <a:spcAft>
                <a:spcPts val="300"/>
              </a:spcAft>
            </a:pPr>
            <a:r>
              <a:rPr lang="en-US" sz="1000" b="0" spc="0" dirty="0">
                <a:solidFill>
                  <a:srgbClr val="8B97AB"/>
                </a:solidFill>
                <a:latin typeface="Arial"/>
                <a:cs typeface="Arial"/>
              </a:rPr>
              <a:t xml:space="preserve">West Palm Beach, FL</a:t>
            </a:r>
          </a:p>
        </p:txBody>
      </p:sp>
      <p:sp>
        <p:nvSpPr>
          <p:cNvPr id="26" name="Pin"/>
          <p:cNvSpPr/>
          <p:nvPr/>
        </p:nvSpPr>
        <p:spPr>
          <a:xfrm>
            <a:off x="7528560" y="4858512"/>
            <a:ext cx="170688" cy="170688"/>
          </a:xfrm>
          <a:prstGeom prst="ellipse">
            <a:avLst/>
          </a:prstGeom>
          <a:solidFill>
            <a:srgbClr val="3B82D6"/>
          </a:solidFill>
          <a:ln w="15875">
            <a:solidFill>
              <a:srgbClr val="FFFFFF"/>
            </a:solidFill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7796784" y="4864608"/>
            <a:ext cx="371856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200" b="1" spc="0" dirty="0">
                <a:solidFill>
                  <a:srgbClr val="FFFFFF"/>
                </a:solidFill>
                <a:latin typeface="Arial"/>
                <a:cs typeface="Arial"/>
              </a:rPr>
              <a:t xml:space="preserve">Roller Weight Loss</a:t>
            </a:r>
          </a:p>
          <a:p>
            <a:pPr algn="l">
              <a:spcAft>
                <a:spcPts val="300"/>
              </a:spcAft>
            </a:pPr>
            <a:r>
              <a:rPr lang="en-US" sz="1000" b="0" spc="0" dirty="0">
                <a:solidFill>
                  <a:srgbClr val="8B97AB"/>
                </a:solidFill>
                <a:latin typeface="Arial"/>
                <a:cs typeface="Arial"/>
              </a:rPr>
              <a:t xml:space="preserve">Fort Smith, AR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762000" y="5852160"/>
            <a:ext cx="1066800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000" b="0" spc="0" dirty="0">
                <a:solidFill>
                  <a:srgbClr val="8B97AB"/>
                </a:solidFill>
                <a:latin typeface="Arial"/>
                <a:cs typeface="Arial"/>
              </a:rPr>
              <a:t xml:space="preserve">Offices: Westbury NY · Roslyn Heights NY · Fort Lauderdale FL. Plus Link &amp; Associates (location pending confirmation). Client roster and locations as of September 2026.</a:t>
            </a:r>
          </a:p>
        </p:txBody>
      </p:sp>
      <p:cxnSp>
        <p:nvCxnSpPr>
          <p:cNvPr id="29" name="Rule"/>
          <p:cNvCxnSpPr/>
          <p:nvPr/>
        </p:nvCxnSpPr>
        <p:spPr>
          <a:xfrm>
            <a:off x="762000" y="6333744"/>
            <a:ext cx="10668000" cy="0"/>
          </a:xfrm>
          <a:prstGeom prst="line">
            <a:avLst/>
          </a:prstGeom>
          <a:ln w="9525">
            <a:solidFill>
              <a:srgbClr val="2E3A4D"/>
            </a:solidFill>
          </a:ln>
        </p:spPr>
      </p:cxnSp>
      <p:sp>
        <p:nvSpPr>
          <p:cNvPr id="30" name="Text 30"/>
          <p:cNvSpPr txBox="1"/>
          <p:nvPr/>
        </p:nvSpPr>
        <p:spPr>
          <a:xfrm>
            <a:off x="762000" y="6473952"/>
            <a:ext cx="3657600" cy="134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lang="en-US" sz="1100" b="0" spc="0" dirty="0">
                <a:solidFill>
                  <a:srgbClr val="6B778C"/>
                </a:solidFill>
                <a:latin typeface="Arial"/>
                <a:cs typeface="Arial"/>
              </a:rPr>
              <a:t xml:space="preserve">DSS · Confidential</a:t>
            </a:r>
          </a:p>
        </p:txBody>
      </p:sp>
      <p:sp>
        <p:nvSpPr>
          <p:cNvPr id="31" name="Text 31"/>
          <p:cNvSpPr txBox="1"/>
          <p:nvPr/>
        </p:nvSpPr>
        <p:spPr>
          <a:xfrm>
            <a:off x="9601200" y="6473952"/>
            <a:ext cx="1828800" cy="134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spcAft>
                <a:spcPts val="300"/>
              </a:spcAft>
            </a:pPr>
            <a:r>
              <a:rPr lang="en-US" sz="1100" b="0" spc="0" dirty="0">
                <a:solidFill>
                  <a:srgbClr val="6B778C"/>
                </a:solidFill>
                <a:latin typeface="Arial"/>
                <a:cs typeface="Arial"/>
              </a:rPr>
              <a:t xml:space="preserve"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8FC"/>
          </a:solidFill>
          <a:ln>
            <a:noFill/>
          </a:ln>
        </p:spPr>
      </p:sp>
      <p:sp>
        <p:nvSpPr>
          <p:cNvPr id="3" name="Text 3"/>
          <p:cNvSpPr txBox="1"/>
          <p:nvPr/>
        </p:nvSpPr>
        <p:spPr>
          <a:xfrm>
            <a:off x="762000" y="670560"/>
            <a:ext cx="5486400" cy="1584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400" b="1" spc="600" dirty="0">
                <a:solidFill>
                  <a:srgbClr val="2F7BD8"/>
                </a:solidFill>
                <a:latin typeface="Arial"/>
                <a:cs typeface="Arial"/>
              </a:rPr>
              <a:t>LEADERSHIP TEAM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62000" y="975360"/>
            <a:ext cx="9144000" cy="487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4400" b="1" spc="-50" dirty="0">
                <a:solidFill>
                  <a:srgbClr val="111B2E"/>
                </a:solidFill>
                <a:latin typeface="Arial"/>
                <a:cs typeface="Arial"/>
              </a:rPr>
              <a:t>Leadership Team</a:t>
            </a:r>
          </a:p>
        </p:txBody>
      </p:sp>
      <p:sp>
        <p:nvSpPr>
          <p:cNvPr id="5" name="Shape 5"/>
          <p:cNvSpPr/>
          <p:nvPr/>
        </p:nvSpPr>
        <p:spPr>
          <a:xfrm>
            <a:off x="762000" y="1828800"/>
            <a:ext cx="343204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F"/>
            </a:solidFill>
          </a:ln>
        </p:spPr>
      </p:sp>
      <p:pic>
        <p:nvPicPr>
          <p:cNvPr id="6" name="Headshot - Dashmir Dalipi" descr="Headshot - Dashmir Dalipi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1304" y="2048256"/>
            <a:ext cx="853440" cy="853440"/>
          </a:xfrm>
          <a:prstGeom prst="ellipse">
            <a:avLst/>
          </a:prstGeom>
          <a:ln w="28575">
            <a:solidFill>
              <a:srgbClr val="FFFFFF"/>
            </a:solidFill>
          </a:ln>
          <a:effectLst>
            <a:outerShdw blurRad="76200" dist="12700" dir="5400000" algn="ctr" rotWithShape="0">
              <a:srgbClr val="1B2A4A">
                <a:alpha val="14000"/>
              </a:srgbClr>
            </a:outerShdw>
          </a:effectLst>
        </p:spPr>
      </p:pic>
      <p:sp>
        <p:nvSpPr>
          <p:cNvPr id="7" name="Text 7"/>
          <p:cNvSpPr txBox="1"/>
          <p:nvPr/>
        </p:nvSpPr>
        <p:spPr>
          <a:xfrm>
            <a:off x="883920" y="2987040"/>
            <a:ext cx="3188208" cy="2072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spc="0" dirty="0">
                <a:solidFill>
                  <a:srgbClr val="111B2E"/>
                </a:solidFill>
                <a:latin typeface="Arial"/>
                <a:cs typeface="Arial"/>
              </a:rPr>
              <a:t>Dashmir Dalipi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83920" y="3279648"/>
            <a:ext cx="3188208" cy="170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spc="0" dirty="0">
                <a:solidFill>
                  <a:srgbClr val="55627A"/>
                </a:solidFill>
                <a:latin typeface="Arial"/>
                <a:cs typeface="Arial"/>
              </a:rPr>
              <a:t>Chief Executive Officer</a:t>
            </a:r>
          </a:p>
        </p:txBody>
      </p:sp>
      <p:sp>
        <p:nvSpPr>
          <p:cNvPr id="9" name="Shape 9"/>
          <p:cNvSpPr/>
          <p:nvPr/>
        </p:nvSpPr>
        <p:spPr>
          <a:xfrm>
            <a:off x="4376928" y="1828800"/>
            <a:ext cx="343204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F"/>
            </a:solidFill>
          </a:ln>
        </p:spPr>
      </p:sp>
      <p:pic>
        <p:nvPicPr>
          <p:cNvPr id="10" name="Headshot - Jose Ra" descr="Headshot - Jose Ra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6232" y="2048256"/>
            <a:ext cx="853440" cy="853440"/>
          </a:xfrm>
          <a:prstGeom prst="ellipse">
            <a:avLst/>
          </a:prstGeom>
          <a:ln w="28575">
            <a:solidFill>
              <a:srgbClr val="FFFFFF"/>
            </a:solidFill>
          </a:ln>
          <a:effectLst>
            <a:outerShdw blurRad="76200" dist="12700" dir="5400000" algn="ctr" rotWithShape="0">
              <a:srgbClr val="1B2A4A">
                <a:alpha val="14000"/>
              </a:srgbClr>
            </a:outerShdw>
          </a:effectLst>
        </p:spPr>
      </p:pic>
      <p:sp>
        <p:nvSpPr>
          <p:cNvPr id="11" name="Text 11"/>
          <p:cNvSpPr txBox="1"/>
          <p:nvPr/>
        </p:nvSpPr>
        <p:spPr>
          <a:xfrm>
            <a:off x="4498848" y="2987040"/>
            <a:ext cx="3188208" cy="2072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spc="0" dirty="0">
                <a:solidFill>
                  <a:srgbClr val="111B2E"/>
                </a:solidFill>
                <a:latin typeface="Arial"/>
                <a:cs typeface="Arial"/>
              </a:rPr>
              <a:t>Jose Ra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498848" y="3279648"/>
            <a:ext cx="3188208" cy="170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spc="0" dirty="0">
                <a:solidFill>
                  <a:srgbClr val="55627A"/>
                </a:solidFill>
                <a:latin typeface="Arial"/>
                <a:cs typeface="Arial"/>
              </a:rPr>
              <a:t>Director of Operations</a:t>
            </a:r>
          </a:p>
        </p:txBody>
      </p:sp>
      <p:sp>
        <p:nvSpPr>
          <p:cNvPr id="13" name="Shape 13"/>
          <p:cNvSpPr/>
          <p:nvPr/>
        </p:nvSpPr>
        <p:spPr>
          <a:xfrm>
            <a:off x="7991856" y="1828800"/>
            <a:ext cx="3432048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F"/>
            </a:solidFill>
          </a:ln>
        </p:spPr>
      </p:sp>
      <p:pic>
        <p:nvPicPr>
          <p:cNvPr id="14" name="Headshot - Sajid Kakana" descr="Headshot - Sajid Kakana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81160" y="2048256"/>
            <a:ext cx="853440" cy="853440"/>
          </a:xfrm>
          <a:prstGeom prst="ellipse">
            <a:avLst/>
          </a:prstGeom>
          <a:ln w="28575">
            <a:solidFill>
              <a:srgbClr val="FFFFFF"/>
            </a:solidFill>
          </a:ln>
          <a:effectLst>
            <a:outerShdw blurRad="76200" dist="12700" dir="5400000" algn="ctr" rotWithShape="0">
              <a:srgbClr val="1B2A4A">
                <a:alpha val="14000"/>
              </a:srgbClr>
            </a:outerShdw>
          </a:effectLst>
        </p:spPr>
      </p:pic>
      <p:sp>
        <p:nvSpPr>
          <p:cNvPr id="15" name="Text 15"/>
          <p:cNvSpPr txBox="1"/>
          <p:nvPr/>
        </p:nvSpPr>
        <p:spPr>
          <a:xfrm>
            <a:off x="8113776" y="2987040"/>
            <a:ext cx="3188208" cy="2072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800" b="1" spc="0" dirty="0">
                <a:solidFill>
                  <a:srgbClr val="111B2E"/>
                </a:solidFill>
                <a:latin typeface="Arial"/>
                <a:cs typeface="Arial"/>
              </a:rPr>
              <a:t>Sajid Kakana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113776" y="3279648"/>
            <a:ext cx="3188208" cy="1706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lang="en-US" sz="1400" b="0" spc="0" dirty="0">
                <a:solidFill>
                  <a:srgbClr val="55627A"/>
                </a:solidFill>
                <a:latin typeface="Arial"/>
                <a:cs typeface="Arial"/>
              </a:rPr>
              <a:t>Level 3 Systems Administrator</a:t>
            </a:r>
          </a:p>
        </p:txBody>
      </p:sp>
      <p:sp>
        <p:nvSpPr>
          <p:cNvPr id="17" name="Shape 17"/>
          <p:cNvSpPr/>
          <p:nvPr/>
        </p:nvSpPr>
        <p:spPr>
          <a:xfrm>
            <a:off x="762000" y="6333744"/>
            <a:ext cx="10668000" cy="1219"/>
          </a:xfrm>
          <a:prstGeom prst="rect">
            <a:avLst/>
          </a:prstGeom>
          <a:solidFill>
            <a:srgbClr val="E3E7F0"/>
          </a:solidFill>
          <a:ln>
            <a:noFill/>
          </a:ln>
        </p:spPr>
      </p:sp>
      <p:sp>
        <p:nvSpPr>
          <p:cNvPr id="18" name="Text 18"/>
          <p:cNvSpPr txBox="1"/>
          <p:nvPr/>
        </p:nvSpPr>
        <p:spPr>
          <a:xfrm>
            <a:off x="762000" y="6473952"/>
            <a:ext cx="3657600" cy="134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en-US" sz="1100" b="0" spc="0" dirty="0">
                <a:solidFill>
                  <a:srgbClr val="A9B6CC"/>
                </a:solidFill>
                <a:latin typeface="Arial"/>
                <a:cs typeface="Arial"/>
              </a:rPr>
              <a:t>DSS · Confidential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9601200" y="6473952"/>
            <a:ext cx="1828800" cy="134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en-US" sz="1100" b="0" spc="0" dirty="0">
                <a:solidFill>
                  <a:srgbClr val="A9B6CC"/>
                </a:solidFill>
                <a:latin typeface="Arial"/>
                <a:cs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8e0ee671-14e5-50f2-92d6-eb46531718ab/scratchpad/dss_deck/pptx_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2026-09-23T21:28:59Z</dcterms:created>
  <dcterms:modified xsi:type="dcterms:W3CDTF">2026-09-23T21:28:59Z</dcterms:modified>
</cp:coreProperties>
</file>